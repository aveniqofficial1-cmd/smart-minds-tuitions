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A1128"/>
          </a:solidFill>
          <a:ln w="25400">
            <a:solidFill>
              <a:srgbClr val="131F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A1128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14400"/>
            <a:ext cx="9994392" cy="4937760"/>
          </a:xfrm>
          <a:prstGeom prst="roundRect">
            <a:avLst>
              <a:gd name="adj" fmla="val 4630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5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463040"/>
            <a:ext cx="201168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463040"/>
            <a:ext cx="2926080" cy="320040"/>
          </a:xfrm>
          <a:prstGeom prst="roundRect">
            <a:avLst>
              <a:gd name="adj" fmla="val 42857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336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CLIENT PROPOSAL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23360" y="19202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MINDS TUITIONS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023360" y="26517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"Connecting Students, Parents &amp; Verified Tutors"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3360" y="3154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admin-managed tutoring platform engineered to simplify tutor discovery, multi-step verification, controlled matching, and holistic tuition operations.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45920" y="448056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45920" y="4480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Admin-Verified Tutors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86200" y="448056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4480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Contact Privacy Protection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26480" y="448056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4480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Structured Demo Workflow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66760" y="448056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480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Tuition Center Desk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97280" y="6035040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Presentation  •  System Architecture &amp; Feature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distinct user roles. One seamlessly controlled tutoring ecosystem.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78308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bridges the trust and coordination gap between parents seeking verified educators, qualified tutors finding sustainable teaching opportunities, and coaching centers scaling student batches.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834640"/>
            <a:ext cx="3474720" cy="1508760"/>
          </a:xfrm>
          <a:prstGeom prst="roundRect">
            <a:avLst>
              <a:gd name="adj" fmla="val 909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944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Parents &amp; Students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verified subject tutors, post custom home/online requirements, evaluate educators via free demo sessions, and monitor academic progress cards.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82712" y="2834640"/>
            <a:ext cx="3474720" cy="1508760"/>
          </a:xfrm>
          <a:prstGeom prst="roundRect">
            <a:avLst>
              <a:gd name="adj" fmla="val 909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65592" y="2944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Verified Educators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65592" y="32918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Undergo rigorous KYC verification (ID &amp; degree audit), discover nearby student requirements, conduct demos, and manage earnings &amp; attendance registers.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4663440"/>
            <a:ext cx="3474720" cy="1508760"/>
          </a:xfrm>
          <a:prstGeom prst="roundRect">
            <a:avLst>
              <a:gd name="adj" fmla="val 909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773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Tuition Centers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51206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Classes 1–10 batch rosters, track daily student attendance, record test rankings, trigger 1-click WhatsApp fee reminders, and hire specialized faculty.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82712" y="4663440"/>
            <a:ext cx="3474720" cy="1508760"/>
          </a:xfrm>
          <a:prstGeom prst="roundRect">
            <a:avLst>
              <a:gd name="adj" fmla="val 909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4773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Central Admin Authority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65592" y="51206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single source of truth for tutor KYC audits, requirement matching, demo scheduling, 50% commission verification, subscriptions, and live chat support.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43984" y="2834640"/>
            <a:ext cx="3291840" cy="3337560"/>
          </a:xfrm>
          <a:prstGeom prst="roundRect">
            <a:avLst>
              <a:gd name="adj" fmla="val 5556"/>
            </a:avLst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25" name="Image 1" descr="D:\02_Development\Web\Tueshion\image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3017520"/>
            <a:ext cx="1371600" cy="1371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26864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26864" y="48006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KYC Verification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Contact Redaction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Admin-Relayed Demo Matching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Payment Audits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Support Desk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in the Traditional Tuition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friction points faced by parents, educators, and institutions in unregulated environments.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2024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54480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Unverified Tutor Credentials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struggle to verify background, degree qualifications, and government identities of private home tutors.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61688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44568" y="192024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44568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84648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Uncontrolled Contact Sharing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44568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directories expose phone numbers and private addresses prematurely, leading to spam and privacy breaches.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91856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74736" y="192024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74736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814816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Disorganized Demo Classes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174736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trial session mechanism; parents have no formal way to evaluate educators before financial commitment.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31520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1605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554480" y="4142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Tutor Application Tracking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tutors lack a transparent platform to discover genuine student leads filtered by locality and subject specializations.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61688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44568" y="41605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84648" y="4142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Center Operational Overhead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544568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centers rely on paper registers to track Class 1–10 batches, attendance, exam averages, and monthly fee collections.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991856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74736" y="41605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74736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14816" y="4142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Disputed Commission &amp; Fee Settlements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174736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transparent audit trails for platform commissions, subscription passes, and fee verification creates operational disputes.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Smart Minds Tuitions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controlled, admin-moderated marketplace designed for trust, safety, and operational excellence.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45920"/>
            <a:ext cx="10725912" cy="731520"/>
          </a:xfrm>
          <a:prstGeom prst="roundRect">
            <a:avLst>
              <a:gd name="adj" fmla="val 15000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CONTROLLED MARKETPLACE MODEL: Unlike open classified sites, all requirements, tutor applications, demo sessions, and contact coordinates flow through an authenticated Admin Verification &amp; Matching Engine.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6060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743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34440" y="2715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Posts Lead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3154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Grade, Location &amp; Budget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907792" y="26060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2" y="2743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3044952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10712" y="2715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Review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044952" y="3154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validation &amp; publishing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84064" y="26060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21224" y="2743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1"/>
          <p:cNvSpPr/>
          <p:nvPr/>
        </p:nvSpPr>
        <p:spPr>
          <a:xfrm>
            <a:off x="5221224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86984" y="2715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Tutor Pool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21224" y="3154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KYC-approved educators discover lead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260336" y="26060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97496" y="2743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6"/>
          <p:cNvSpPr/>
          <p:nvPr/>
        </p:nvSpPr>
        <p:spPr>
          <a:xfrm>
            <a:off x="7397496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763256" y="2715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Applies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97496" y="3154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submit tuition applications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436608" y="26060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73768" y="2743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4" name="Text 31"/>
          <p:cNvSpPr/>
          <p:nvPr/>
        </p:nvSpPr>
        <p:spPr>
          <a:xfrm>
            <a:off x="9573768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939528" y="2715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Selection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573768" y="3154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&amp; selects top educator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31520" y="43891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" y="4526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9" name="Text 36"/>
          <p:cNvSpPr/>
          <p:nvPr/>
        </p:nvSpPr>
        <p:spPr>
          <a:xfrm>
            <a:off x="8686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34440" y="4498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Scheduled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68680" y="4937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evaluation coordinated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907792" y="43891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044952" y="4526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4" name="Text 41"/>
          <p:cNvSpPr/>
          <p:nvPr/>
        </p:nvSpPr>
        <p:spPr>
          <a:xfrm>
            <a:off x="3044952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410712" y="4498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Decision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3044952" y="4937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decision: Accepted / Rejected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084064" y="43891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21224" y="4526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9" name="Text 46"/>
          <p:cNvSpPr/>
          <p:nvPr/>
        </p:nvSpPr>
        <p:spPr>
          <a:xfrm>
            <a:off x="5221224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586984" y="4498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Activation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221224" y="4937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submits 50% commission proof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260336" y="43891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97496" y="4526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4" name="Text 51"/>
          <p:cNvSpPr/>
          <p:nvPr/>
        </p:nvSpPr>
        <p:spPr>
          <a:xfrm>
            <a:off x="7397496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763256" y="4498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Contacts Unlocked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397496" y="4937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 &amp; address revealed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9436608" y="438912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573768" y="45262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9" name="Text 56"/>
          <p:cNvSpPr/>
          <p:nvPr/>
        </p:nvSpPr>
        <p:spPr>
          <a:xfrm>
            <a:off x="9573768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9939528" y="4498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Tuition Begins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9573768" y="49377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&amp; monthly report logs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Four User Experiences.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role-based workflows tailored to parents, educators, centers, and platform administrators.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2606040" cy="4480560"/>
          </a:xfrm>
          <a:prstGeom prst="roundRect">
            <a:avLst>
              <a:gd name="adj" fmla="val 5263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28800"/>
            <a:ext cx="1280160" cy="228600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68680" y="2103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PARENT / STUDENT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5603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Multi-child registration (CBSE / ICSE)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home &amp; online tuition leads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scheduled evaluation demos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or reject demo educators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Unlocked tutor contact coordinates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daily attendance registers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student academic report 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2-way support chat with Admin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56432" y="1691640"/>
            <a:ext cx="2606040" cy="4480560"/>
          </a:xfrm>
          <a:prstGeom prst="roundRect">
            <a:avLst>
              <a:gd name="adj" fmla="val 5263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28800"/>
            <a:ext cx="1280160" cy="228600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3593592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593592" y="2103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EDUCATOR / TUTOR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93592" y="25603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Aadhaar &amp; Degree KYC submission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Multi-class teaching capability profile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student tuition requirements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for assignments &amp; conduct demos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tuition operations &amp; parent details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 attendance &amp; topic registers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monthly student progress 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Multi-Tuition Passes &amp; 50% commission desk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81344" y="1691640"/>
            <a:ext cx="2606040" cy="4480560"/>
          </a:xfrm>
          <a:prstGeom prst="roundRect">
            <a:avLst>
              <a:gd name="adj" fmla="val 5263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28800"/>
            <a:ext cx="1280160" cy="228600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6318504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DESK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318504" y="2103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TUITION CENTER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18504" y="25603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 license &amp; registration 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1–10 batch creation &amp; capacities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enrollment &amp; batch assignment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batch attendance registers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&amp; exam score ledgers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fee collection tracking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WhatsApp payment reminders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Hire verified subject faculty from Admin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906256" y="1691640"/>
            <a:ext cx="2606040" cy="4480560"/>
          </a:xfrm>
          <a:prstGeom prst="roundRect">
            <a:avLst>
              <a:gd name="adj" fmla="val 5263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28800"/>
            <a:ext cx="1280160" cy="228600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9043416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9043416" y="2103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SUPER ADMIN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043416" y="25603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KPI metrics &amp; revenue intelligence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Educator KYC document verification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Tuition center accreditation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requirement moderation &amp;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session coordination &amp; dispatch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Commission proof verification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Multi-Tuition Subscription activation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Multi-channel real-time support console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Step-by-Step Lifecycle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operational timeline from account onboarding to active tuition delivery.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Parent, Tutor, or Tuition Center creates an account.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28600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2433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744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37744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audits Government ID &amp; Degree certificates.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84048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2433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5196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3192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REQUIREMENT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93192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specifies subject, grade, location &amp; schedule.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9496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2433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&amp; APPS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48640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tutors browse leads and submit applications.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94944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D4AF3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6092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6092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4088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CLASS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04088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coordinates a free evaluation trial session.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50392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2433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1540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154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59536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59536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accepts or rejects educator based on demo.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0058400" y="2194560"/>
            <a:ext cx="1417320" cy="3474720"/>
          </a:xfrm>
          <a:prstGeom prst="roundRect">
            <a:avLst>
              <a:gd name="adj" fmla="val 9677"/>
            </a:avLst>
          </a:prstGeom>
          <a:solidFill>
            <a:srgbClr val="131F42"/>
          </a:solidFill>
          <a:ln w="15240">
            <a:solidFill>
              <a:srgbClr val="D4AF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69880" y="2423160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6988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14984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TUITION COMMENCES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0149840" y="3657600"/>
            <a:ext cx="1234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paid, contacts unlocked, classes begin.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&amp; Student Journey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stress-free experience from tutor discovery to ongoing progress reporting.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745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34440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Account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verified email &amp; mobile number.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56432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745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3593592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59352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Child Profiles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93592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student grade (1-12), board (CBSE/ICSE) &amp; school.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1344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745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19"/>
          <p:cNvSpPr/>
          <p:nvPr/>
        </p:nvSpPr>
        <p:spPr>
          <a:xfrm>
            <a:off x="6318504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84264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Requirement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18504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subjects, locality, budget range, and preferred days.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06256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745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4"/>
          <p:cNvSpPr/>
          <p:nvPr/>
        </p:nvSpPr>
        <p:spPr>
          <a:xfrm>
            <a:off x="9043416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40917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Dispatches Lead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043416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is validated and published to verified tutor pool.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1520" y="3749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3886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2" name="Text 29"/>
          <p:cNvSpPr/>
          <p:nvPr/>
        </p:nvSpPr>
        <p:spPr>
          <a:xfrm>
            <a:off x="8686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234440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Assigned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68680" y="4297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matches the best-suited educator for evaluation.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456432" y="3749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3592" y="3886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4"/>
          <p:cNvSpPr/>
          <p:nvPr/>
        </p:nvSpPr>
        <p:spPr>
          <a:xfrm>
            <a:off x="3593592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959352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 Demo Session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593592" y="4297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class conducted online or at home.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81344" y="3749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18504" y="3886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2" name="Text 39"/>
          <p:cNvSpPr/>
          <p:nvPr/>
        </p:nvSpPr>
        <p:spPr>
          <a:xfrm>
            <a:off x="6318504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684264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/ Reject Decision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318504" y="4297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records binary feedback on the portal.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906256" y="3749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043416" y="388620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7" name="Text 44"/>
          <p:cNvSpPr/>
          <p:nvPr/>
        </p:nvSpPr>
        <p:spPr>
          <a:xfrm>
            <a:off x="9043416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409176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Access &amp; Tuition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043416" y="4297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contact coordinates revealed; attendance &amp; report cards active.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31520" y="5715000"/>
            <a:ext cx="10725912" cy="54864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57150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 GUARANTEE: Parents do not receive unrestricted tutor contact coordinates before formal assignment and accepted demo confirmation.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 Journey &amp; Multi-Tuition Passes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verified teachers, discovering assignments, and managing multi-tuition tiers.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486400" cy="4389120"/>
          </a:xfrm>
          <a:prstGeom prst="roundRect">
            <a:avLst>
              <a:gd name="adj" fmla="val 312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EDUCATOR WORKFLOW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 &amp; KYC: Upload Aadhaar / Passport &amp; Degree Certificates.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Agreement Acceptance: Review and accept tutor code of conduct.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Admin Audit: Admin approves tutor profile after credential verification.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Browse &amp; Apply: Discover nearby student leads filtered by locality.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Conduct Demo: Deliver free trial session and await parent decision.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50% Commission Desk: Submit 1st month commission proof for active classes.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Attendance &amp; Reports: Log class topics, homework, and monthly scores.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65192" cy="4389120"/>
          </a:xfrm>
          <a:prstGeom prst="roundRect">
            <a:avLst>
              <a:gd name="adj" fmla="val 312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MULTI-TUITION SUBSCRIPTION PASSES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taking 2 or more concurrent tuitions require an active subscription tier as mandated by the SRS: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5120" y="274320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Months Pass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87552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309067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90 days concurrent applications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675120" y="352044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3593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 Pass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75520" y="3593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₹600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12280" y="38679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180 days concurrent applications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75120" y="429768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Months Pass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87552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₹900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12280" y="46451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270 days concurrent applications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675120" y="507492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5148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 Pass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875520" y="5148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₹1200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12280" y="5422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pass for unlimited concurrent tuitions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MODULE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Tuition Center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portal enabling coaching centers to automate classes 1–10 batches, attendance &amp; fees.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 Classes 1–10 Batch Architecture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academic batches per grade (Class 1 to Class 10), assign subject faculty, configure batch timings, and enforce capacity caps.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61688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Student Roster Management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44568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students, assign them to specific batches, track guardian contacts, and monitor active/inactive enrollment statuses.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991856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74736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Daily Batch Attendance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4736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daily attendance registers (Present, Absent, Late) across all enrolled batch students with historical logs.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1520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Unit Test &amp; Exam Performance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251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periodic unit test marks, subject averages, top ranks, and generate parent-facing academic performance cards.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4568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Monthly Fee Ledger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44568" y="4251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fee collection statuses (Paid vs Pending) per student with complete payment method and date records.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91856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74736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1-Click WhatsApp Reminders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74736" y="42519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pre-formatted WhatsApp payment reminders directly to parent mobile numbers in one click for overdue fees.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1520" y="580644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8064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FACULTY RECRUITMENT DESK: Tuition centers can submit requests to Admin for qualified subject tutors and specialized educators directly from the verified tutor pool.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Admin Control Center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operational authority for verification, matching, assignments, and platform earnings.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1051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Executive KPI Dashboard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208483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 metrics: requirements, active tuitions, verified tutors, and centers.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72200" y="173736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181051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Educator KYC Audit Desk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208483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government ID cards and degree memos; approve/reject with feedback.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1520" y="260604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67919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Center Accreditation Desk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" y="295351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institutional registration certificates and trade licenses.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72200" y="260604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67919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📑 Lead Matching &amp; Dispatch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55080" y="295351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incoming parent requirements and audit tutor applications.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31520" y="347472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54787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Demo Coordination Console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4400" y="382219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evaluation demos and relay parent decisions to educators.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72200" y="347472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354787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💵 50% Commission Desk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355080" y="382219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tutor UPI payment screenshots; 1-click approval unlocks mutual contacts.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31520" y="434340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41655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Subscription Approval Desk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14400" y="469087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3, 6, 9, 12-month pass payments and activate unlimited applications.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72200" y="434340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441655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Financial Intelligence Ledger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355080" y="469087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ledger tracking all platform revenue streams with receipt view.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31520" y="521208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28523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Multi-Channel Support Chat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14400" y="555955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messaging hub communicating with all platform roles.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172200" y="5212080"/>
            <a:ext cx="5285232" cy="749808"/>
          </a:xfrm>
          <a:prstGeom prst="roundRect">
            <a:avLst>
              <a:gd name="adj" fmla="val 1219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55080" y="528523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Security Audit Trail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355080" y="555955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 of all administrative actions, KYC decisions, and financial events.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Trust &amp; Controlled Access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data privacy, credential verification, and role-based boundaries.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KYC Document Verification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ID proofs (Aadhaar / Passport) and educational degree memos are verified by Admin before tutors can apply for leads.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61688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Mutual Contact Redaction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44568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and parents cannot view phone numbers, emails, or residential addresses until a demo is accepted and fee is verified.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91856" y="173736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74736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Role-Based Access Control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74736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JWT authentication and authorization middleware enforce complete isolation between Parent, Tutor, Center, and Admin portals.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Protected Document Storage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4400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KYC documents and transaction screenshots are stored privately and accessible only via authenticated JWT session routes.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61688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4568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Password Security Standards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44568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 are protected using salted BCrypt password hashing, preventing exposure during authentication.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991856" y="3977640"/>
            <a:ext cx="3474720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74736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Immutable Audit Logging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174736" y="46177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administrative decision, KYC approval, status update, and financial transaction is permanently logged with timestamps &amp; IPs.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Payment Verification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manual UPI verification workflows for tutor subscriptions and first-month commissions.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257800" cy="3749040"/>
          </a:xfrm>
          <a:prstGeom prst="roundRect">
            <a:avLst>
              <a:gd name="adj" fmla="val 3659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288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TUTOR MULTI-TUITION SUBSCRIPTION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Tutor selects 3, 6, 9, or 12-month pass (₹300 - ₹1200).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Makes external UPI payment via QR code.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Submits UPI Transaction ID (UTR) &amp; payment screenshot.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Admin verifies payment receipt on Subscription Desk.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Subscription is activated; multi-application pass enabled.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257800" cy="3749040"/>
          </a:xfrm>
          <a:prstGeom prst="roundRect">
            <a:avLst>
              <a:gd name="adj" fmla="val 3659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288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💵 50% FIRST-MONTH COMMISSION WORKFLOW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224028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Tutor conducts demo; Parent marks assignment Accepted.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Tutor receives first-month tuition fee from parent.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Tutor pays 50% one-time commission to Admin via UPI.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Tutor uploads payment proof screenshot &amp; UTR number.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Admin approves commission; tuition status marked Active.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562356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623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IMPORTANT FINANCIAL NOTE: Regular monthly tuition fee payments between parents and tutors take place directly outside the platform. The platform handles only tutor subscriptions and first-month commissions.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Communication Channels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clearly separated communication mediums designed for authenticated users and public inquiries.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4389120"/>
          </a:xfrm>
          <a:prstGeom prst="roundRect">
            <a:avLst>
              <a:gd name="adj" fmla="val 3125"/>
            </a:avLst>
          </a:prstGeom>
          <a:solidFill>
            <a:srgbClr val="131F42"/>
          </a:solidFill>
          <a:ln w="1524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CHANNEL 1: REAL-TIME IN-APP CHAT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Purpose: Secure, authenticated operational messaging.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Technology: Socket.IO WebSockets with JWT handshake.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Channels: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👨‍👩‍👧 Parent ↔ 👑 Admin (Academic counseling &amp; demo feedback)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🎓 Tutor ↔ 👑 Admin (Lead clarification &amp; commission support)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🏢 Center ↔ 👑 Admin (Faculty requests &amp; accreditation)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Features: Instant messaging, unread badges, typing indicators.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4389120"/>
          </a:xfrm>
          <a:prstGeom prst="roundRect">
            <a:avLst>
              <a:gd name="adj" fmla="val 3125"/>
            </a:avLst>
          </a:prstGeom>
          <a:solidFill>
            <a:srgbClr val="131F42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CHANNEL 2: PUBLIC WHATSAPP INQUIRY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73952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Purpose: Pre-registration public inquiries &amp; instant support.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Floating WhatsApp widget on public marketing pages.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Flow: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Prospective parents &amp; tutors click the WhatsApp badge.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Redirects to WhatsApp with a pre-filled inquiry template.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Connects directly to Smart Minds Tuitions official admin desk.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Distinction: WhatsApp and In-App Chat operate as separate channels.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modular full-stack stack engineered for reliability, responsiveness, and zero-setup deployment.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8288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8328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Vite + Tailwind CSS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(SPA), Lucide icons, responsive navigation, and role-based portal routing.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1520" y="2587752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2724912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724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SERVER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832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Express.js REST API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29992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controllers, RBAC middleware, privacy redaction pipelines, and protected document routes.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1520" y="3483864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3621024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383280" y="3593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Socket.IO (v4)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3895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authenticated event gateway for live support messaging, typing indicators, and notifications.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4379976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51713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5171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DUAL ENGINE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83280" y="4489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+ In-Memory Fallback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47914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ORM schemas with automatic zero-config in-memory MongoDB failover engine for rapid development.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1520" y="5276088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41324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413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ENCRYPTION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383280" y="5385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BCrypt + Helmet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83280" y="5687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token authentication, salted password hashing, NoSQL query sanitization, and rate limiting.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TOPOLOGY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Ecosystem &amp; Security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architectural topology showing authenticated role interfaces and backend service modules.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4480560"/>
          </a:xfrm>
          <a:prstGeom prst="roundRect">
            <a:avLst>
              <a:gd name="adj" fmla="val 3061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Parent Portal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Route: /parent/*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8056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Educator Portal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805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Route: /tutor/*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86384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Tuition Center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6384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Route: /center/*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0" y="3017520"/>
            <a:ext cx="7068312" cy="1280160"/>
          </a:xfrm>
          <a:prstGeom prst="roundRect">
            <a:avLst>
              <a:gd name="adj" fmla="val 8571"/>
            </a:avLst>
          </a:prstGeom>
          <a:solidFill>
            <a:srgbClr val="131F42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3108960"/>
            <a:ext cx="670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CENTRAL ADMIN GATEWAY &amp; REST API CONTROLLERS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92608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KYC Document Audit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Dispatch &amp; Matching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Coordination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17920" y="3474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Commission Desk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Pass Manager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Live Chat Server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0" y="4572000"/>
            <a:ext cx="7068312" cy="1280160"/>
          </a:xfrm>
          <a:prstGeom prst="roundRect">
            <a:avLst>
              <a:gd name="adj" fmla="val 857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0" y="4663440"/>
            <a:ext cx="670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MONGODB DATABASE &amp; PROTECTED STORAGE LAYER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834640" y="5029200"/>
            <a:ext cx="6519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Users • Profiles • TuitionRequirements • Applications • Demos • Assignments • Attendance • MonthlyReports • Batches • FeeLedgers • Subscriptions • AuditLogs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Capabilities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core functional capabilities engineered to meet the complete SRS specification.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KYC Verification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56432" y="17373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93592" y="20116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3593592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96512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Registration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81344" y="17373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18504" y="20116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6318504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21424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Tuition Requirements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906256" y="17373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43416" y="20116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9043416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546336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Applications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1520" y="28346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8680" y="3108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8686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7160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Lead Matching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456432" y="28346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93592" y="3108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29"/>
          <p:cNvSpPr/>
          <p:nvPr/>
        </p:nvSpPr>
        <p:spPr>
          <a:xfrm>
            <a:off x="3593592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096512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Demo Classes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181344" y="28346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18504" y="3108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3"/>
          <p:cNvSpPr/>
          <p:nvPr/>
        </p:nvSpPr>
        <p:spPr>
          <a:xfrm>
            <a:off x="6318504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21424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Assignments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906256" y="283464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043416" y="3108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7"/>
          <p:cNvSpPr/>
          <p:nvPr/>
        </p:nvSpPr>
        <p:spPr>
          <a:xfrm>
            <a:off x="9043416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546336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Attendance Ledger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31520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8680" y="4206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1"/>
          <p:cNvSpPr/>
          <p:nvPr/>
        </p:nvSpPr>
        <p:spPr>
          <a:xfrm>
            <a:off x="8686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371600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Progress Reports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456432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593592" y="4206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8" name="Text 45"/>
          <p:cNvSpPr/>
          <p:nvPr/>
        </p:nvSpPr>
        <p:spPr>
          <a:xfrm>
            <a:off x="3593592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096512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Tuition Center Batches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181344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18504" y="4206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2" name="Text 49"/>
          <p:cNvSpPr/>
          <p:nvPr/>
        </p:nvSpPr>
        <p:spPr>
          <a:xfrm>
            <a:off x="6318504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821424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Multi-Tuition Passes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906256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43416" y="4206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6" name="Text 53"/>
          <p:cNvSpPr/>
          <p:nvPr/>
        </p:nvSpPr>
        <p:spPr>
          <a:xfrm>
            <a:off x="9043416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9546336" y="4069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Commission Desk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731520" y="50292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68680" y="53035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0" name="Text 57"/>
          <p:cNvSpPr/>
          <p:nvPr/>
        </p:nvSpPr>
        <p:spPr>
          <a:xfrm>
            <a:off x="86868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371600" y="5166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Admin Chat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3456432" y="50292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93592" y="53035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4" name="Text 61"/>
          <p:cNvSpPr/>
          <p:nvPr/>
        </p:nvSpPr>
        <p:spPr>
          <a:xfrm>
            <a:off x="3593592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4096512" y="5166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Reminder Triggers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181344" y="50292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18504" y="53035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8" name="Text 65"/>
          <p:cNvSpPr/>
          <p:nvPr/>
        </p:nvSpPr>
        <p:spPr>
          <a:xfrm>
            <a:off x="6318504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821424" y="5166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906256" y="502920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043416" y="53035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2" name="Text 69"/>
          <p:cNvSpPr/>
          <p:nvPr/>
        </p:nvSpPr>
        <p:spPr>
          <a:xfrm>
            <a:off x="9043416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9546336" y="5166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Document Desk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per User Persona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dashboards crafted specifically for parents, educators, center directors, and administrators.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PARENT DASHBOARD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22860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359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Requirements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29000" y="22860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2359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Demo Sessions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4400" y="29718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044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Tutors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29000" y="29718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3044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Cards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7220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EDUCATOR DASHBOARD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55080" y="22860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2359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Student Leads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869680" y="22860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0" y="2359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Applications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55080" y="29718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044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Tuitions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869680" y="29718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0" y="3044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Register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152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TUITION CENTER DESK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14400" y="45262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45994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1–10 Batches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429000" y="45262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20440" y="45994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Student Rosters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14400" y="5212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5840" y="52852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Marked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429000" y="5212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20440" y="52852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Dues Ledger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7220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5508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ADMIN CONTROL ROOM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355080" y="45262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45994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Tutor KYC Audits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869680" y="45262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0" y="45994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Commission Proofs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355080" y="5212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46520" y="52852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Multi-Tuition Passes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869680" y="521208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50814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61120" y="52852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Support Conversations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Across Devices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web application accessible across desktop monitors, laptops, tablets, and smartphones.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Desktop &amp; Laptops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high-productivity workflows: Admin control room, center batch registers, multi-column requirement browsing, and attendance tables.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61688" y="173736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Tablets &amp; iPads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36008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touch navigation for parents reviewing tutor credentials, checking scheduled demo dates, and approving monthly student report cards.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91856" y="173736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74736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📲 Mobile Browsers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66176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on iOS and Android browsers for tutors marking daily class attendance on-the-go and parents receiving WhatsApp reminders.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ZERO INSTALLATION FRICTION: Built as a modern Single Page Web Application (React SPA), users require no app store downloads and can log in securely from any standard web browser.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Delivered Across All Stakeholders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safety, operational efficiency, and revenue transparency to every user persona.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PARENTS &amp; STUDENTS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educators with audited IDs and degrees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upfront contact leakage or spam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evaluation demo before formal tuition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monthly progress and attendance logs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QUALIFIED TUTORS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55080" y="224028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discovery of genuine nearby tuition leads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credential verification badges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Multi-tuition subscription passes for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50% commission verification desk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TUITION CENTERS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Classes 1–10 batch configuration and caps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Paperless daily attendance and test ledgers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1-Click WhatsApp payment reminders to parents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faculty hiring requests from verified pool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7220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PLATFORM OWNERS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55080" y="448056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administrative control over matching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Multi-stream revenue (commissions + subscriptions)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security and financial audit trail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Integrated real-time support chat desk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Product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inventory of fully engineered and verified deliverables based on the SRS.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MODULES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 &amp; Student Portal (8 Pages)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Educator &amp; Tutor Portal (11 Pages)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Tuition Center Desk (8 Pages)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 Admin Control Room (10 Pages)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Pages &amp; 1-Click Login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173736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187452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SERVICES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55080" y="224028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 &amp; RBAC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Privacy Redaction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Document Storage Desk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Engine (MongoDB + Memory Failover)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Real-Time Chat Server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WORKFLOWS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Tutor KYC Aadhaar/Degree Audit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Posting &amp; Tutor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Demo Class Lifecycle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First-Month Commission Desk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3/6/9/12-Month Subscription Passes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72200" y="3977640"/>
            <a:ext cx="5285232" cy="2057400"/>
          </a:xfrm>
          <a:prstGeom prst="roundRect">
            <a:avLst>
              <a:gd name="adj" fmla="val 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148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TOOLS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55080" y="4480560"/>
            <a:ext cx="4919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Classes 1–10 Batch Management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Student Attendance Registers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&amp; Exam Score Ledgers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Fee Collection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WhatsApp Parent Reminders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46875"/>
            </a:avLst>
          </a:prstGeom>
          <a:solidFill>
            <a:srgbClr val="131F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Expansion Opportunities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enhancements for subsequent version releases (beyond current SRS scope).</a:t>
            </a:r>
            <a:endParaRPr lang="en-US" sz="110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65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400800"/>
            <a:ext cx="10725912" cy="0"/>
          </a:xfrm>
          <a:prstGeom prst="line">
            <a:avLst/>
          </a:prstGeom>
          <a:noFill/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Client Project Presentation  •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142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www.smartmindstuitions.com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 Payment Gateway Integration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UPI, credit card, and net banking payment reconciliation.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61688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AI-Assisted Tutor Matching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44568" y="22860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Algorithm-driven matching based on student syllabus, pace, and tutor experience.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991856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74736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Native Mobile Apps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4736" y="22860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iOS &amp; Android applications with native push notifications.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1520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🎥  Embedded Video Classrooms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2976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WebRTC virtual whiteboards and video sessions for online demos.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4568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Advanced Learning Analytics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44568" y="42976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score trendlines, concept gap analysis, and parent insights.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91856" y="37490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74736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  Automated SMS &amp; WhatsApp Bots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74736" y="42976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alerts and assignment reminders via WhatsApp Business API.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1520" y="580644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8064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ROADMAP NOTICE: These modules represent potential future growth avenues and are clearly separated from the current SRS product requirements.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9445752" cy="4937760"/>
          </a:xfrm>
          <a:prstGeom prst="roundRect">
            <a:avLst>
              <a:gd name="adj" fmla="val 4630"/>
            </a:avLst>
          </a:prstGeom>
          <a:solidFill>
            <a:srgbClr val="0A1128"/>
          </a:solidFill>
          <a:ln w="2540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324612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MINDS TUITIONS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0" y="37947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Finding a Tutor To Managing the Tuition Journey."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6000" y="434340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secure platform connecting parents, students, tutors, and coaching centers through controlled verification, matching, and ongoing tuition operations.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0" y="516636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5166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Parents &amp; Students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77640" y="516636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7640" y="5166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Verified Educators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516636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5166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Tuition Centers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75320" y="516636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5166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Central Administration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9445752" cy="4937760"/>
          </a:xfrm>
          <a:prstGeom prst="roundRect">
            <a:avLst>
              <a:gd name="adj" fmla="val 4630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459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4630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a Smarter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Tuition Experience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0" y="25146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unified, trusted platform for parents, educators, coaching centers, and platform administrators.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0" y="320040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32918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INQUIRIES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09160" y="35478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Representative Name]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06640" y="320040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32918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EMAIL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43800" y="35478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[contact@smartmindstuitions.com]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0" y="416052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PORTAL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09160" y="45079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[www.smartmindstuitions.com]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06640" y="416052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131F42"/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0" y="4251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HELPLINE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543800" y="45079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[Official Phone / WhatsApp Helpline]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371600" y="603504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Minds Tuitions  •  All Rights Reserved  •  Confidential Client Presentation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Smart Minds Tuitions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Minds Tuitions - Client Project Presentation</dc:title>
  <dc:subject>PptxGenJS Presentation</dc:subject>
  <dc:creator>Smart Minds Tuitions</dc:creator>
  <cp:lastModifiedBy>Smart Minds Tuitions</cp:lastModifiedBy>
  <cp:revision>1</cp:revision>
  <dcterms:created xsi:type="dcterms:W3CDTF">2026-09-27T14:52:25Z</dcterms:created>
  <dcterms:modified xsi:type="dcterms:W3CDTF">2026-09-27T14:52:25Z</dcterms:modified>
</cp:coreProperties>
</file>