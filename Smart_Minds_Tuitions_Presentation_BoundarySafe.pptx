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0725912" cy="5687568"/>
          </a:xfrm>
          <a:prstGeom prst="roundRect">
            <a:avLst>
              <a:gd name="adj" fmla="val 2894"/>
            </a:avLst>
          </a:prstGeom>
          <a:solidFill>
            <a:srgbClr val="0A1128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60704"/>
            <a:ext cx="1783080" cy="1783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10128" y="1097280"/>
            <a:ext cx="3063240" cy="274320"/>
          </a:xfrm>
          <a:prstGeom prst="roundRect">
            <a:avLst>
              <a:gd name="adj" fmla="val 23333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310128" y="1097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CLIENT PROPOSAL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310128" y="146304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310128" y="213055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"Connecting Students, Parents &amp; Verified Tutors"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035808"/>
            <a:ext cx="9811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secure, admin-governed educational ecosystem engineered to simplify tutor discovery, KYC credential verification, controlled matching, and ongoing tuition operations.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88720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ADMIN-VERIFIED TUTORS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1325880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ID and degree audit before lead matching.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685032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22192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PRIVACY DESK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822192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contact leakage before accepted demo confirmation.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181344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850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DEMO FLOW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318504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evaluation class with binary parent feedback.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677656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14816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CENTER DESK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8814816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1–10 batches, attendance and WhatsApp fees.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31520" y="6190488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Architecture &amp; Technical Specification Overview  •  Client Ready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Four distinct user roles. One centrally governed tutoring ecosystem.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02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685800"/>
          </a:xfrm>
          <a:prstGeom prst="roundRect">
            <a:avLst>
              <a:gd name="adj" fmla="val 13333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6916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bridges the coordination gap between parents seeking verified educators, qualified tutors looking for sustainable teaching opportunities, and tuition centers managing student batches.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5603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6974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91440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&amp; STUDENTS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14400" y="32735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KYC-verified tutors, post home or online requirements, evaluate educators through free trial sessions, and track attendance and monthly report cards.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1520" y="43891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5262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526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 DESK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914400" y="4782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914400" y="51023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Classes 1–10 batch rosters, daily attendance, test marks, WhatsApp fee reminders, and verified faculty hiring.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25603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02752" y="26974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PORTAL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8302752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EDUCATORS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8302752" y="32735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KYC verification, browse nearby student leads, submit applications, conduct demos, and manage active student attendance ledgers.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119872" y="43891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02752" y="45262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02752" y="4526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8302752" y="4782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GOVERNANCE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8302752" y="51023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operational integrity, audit applications, coordinate demos, verify fee submissions, and review financial earnings ledgers.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251960" y="2560320"/>
            <a:ext cx="3685032" cy="3520440"/>
          </a:xfrm>
          <a:prstGeom prst="roundRect">
            <a:avLst>
              <a:gd name="adj" fmla="val 2597"/>
            </a:avLst>
          </a:prstGeom>
          <a:solidFill>
            <a:srgbClr val="16244C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3" name="Image 1" descr="D:\02_Development\Web\Tueshion\image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761488"/>
            <a:ext cx="1280160" cy="12801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434840" y="4096512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ADMIN AUTHORITY</a:t>
            </a:r>
            <a:endParaRPr lang="en-US" sz="1130" dirty="0"/>
          </a:p>
        </p:txBody>
      </p:sp>
      <p:sp>
        <p:nvSpPr>
          <p:cNvPr id="35" name="Text 31"/>
          <p:cNvSpPr/>
          <p:nvPr/>
        </p:nvSpPr>
        <p:spPr>
          <a:xfrm>
            <a:off x="4526280" y="4498848"/>
            <a:ext cx="3136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KYC credential verification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contact redaction engine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Admin-relayed demo matching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commission and subscription audits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support chat console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in the Traditional Tuition Process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friction points faced by parents, educators, and coaching centers in unmanaged environments.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03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1901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Tutor Credentials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914400" y="235000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struggle to verify background, educational qualifications, and identity proofs of private home tutors, risking quality and safety.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4370832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3712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3712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48072" y="1901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Uncontrolled Contact Sharing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553712" y="235000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directories expose private phone numbers and home addresses prematurely, leading to unsolicited calls, spam, and privacy risks.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8010144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93024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3024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787384" y="1901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Disorganized Demo Evaluations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8193024" y="235000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structured trial classes means parents have no standard way to evaluate teaching compatibility before committing to a tutor.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731520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160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508760" y="41422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Tutor Discovery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14400" y="459028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teachers lack a transparent platform to discover genuine student leads filtered by locality, board syllabus, and grade level.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370832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53712" y="4160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53712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148072" y="41422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Center Record Friction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4553712" y="459028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 rely on manual paper registers to manage Class 1–10 batches, attendance, test marks, and monthly fee dues.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8010144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93024" y="4160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93024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787384" y="41422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Disputed Commission Settlements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8193024" y="459028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an immutable audit trail for commissions, subscription passes, and fee verification creates operational disputes.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Smart Minds Tuitions Solution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controlled, admin-moderated marketplace designed for trust, privacy, and operational clarity.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04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6916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MARKETPLACE MODEL: All student requirements, tutor applications, demo sessions, and contact coordinates flow through an authenticated Admin Verification &amp; Matching Engine.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216152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Posted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868680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specifies syllabus, grade, location and budget.</a:t>
            </a:r>
            <a:endParaRPr lang="en-US" sz="835" dirty="0"/>
          </a:p>
        </p:txBody>
      </p:sp>
      <p:sp>
        <p:nvSpPr>
          <p:cNvPr id="17" name="Shape 14"/>
          <p:cNvSpPr/>
          <p:nvPr/>
        </p:nvSpPr>
        <p:spPr>
          <a:xfrm>
            <a:off x="2907792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4952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44952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92424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Review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3044952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is validated and published to the verified pool.</a:t>
            </a:r>
            <a:endParaRPr lang="en-US" sz="835" dirty="0"/>
          </a:p>
        </p:txBody>
      </p:sp>
      <p:sp>
        <p:nvSpPr>
          <p:cNvPr id="22" name="Shape 19"/>
          <p:cNvSpPr/>
          <p:nvPr/>
        </p:nvSpPr>
        <p:spPr>
          <a:xfrm>
            <a:off x="5084064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21224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21224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568696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Tutor Pool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221224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KYC-approved educators discover the lead.</a:t>
            </a:r>
            <a:endParaRPr lang="en-US" sz="835" dirty="0"/>
          </a:p>
        </p:txBody>
      </p:sp>
      <p:sp>
        <p:nvSpPr>
          <p:cNvPr id="27" name="Shape 24"/>
          <p:cNvSpPr/>
          <p:nvPr/>
        </p:nvSpPr>
        <p:spPr>
          <a:xfrm>
            <a:off x="7260336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97496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496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44968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Applications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7397496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educators submit structured applications.</a:t>
            </a:r>
            <a:endParaRPr lang="en-US" sz="835" dirty="0"/>
          </a:p>
        </p:txBody>
      </p:sp>
      <p:sp>
        <p:nvSpPr>
          <p:cNvPr id="32" name="Shape 29"/>
          <p:cNvSpPr/>
          <p:nvPr/>
        </p:nvSpPr>
        <p:spPr>
          <a:xfrm>
            <a:off x="9436608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73768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73768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921240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Selection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9573768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selects the optimal educator candidate.</a:t>
            </a:r>
            <a:endParaRPr lang="en-US" sz="835" dirty="0"/>
          </a:p>
        </p:txBody>
      </p:sp>
      <p:sp>
        <p:nvSpPr>
          <p:cNvPr id="37" name="Shape 34"/>
          <p:cNvSpPr/>
          <p:nvPr/>
        </p:nvSpPr>
        <p:spPr>
          <a:xfrm>
            <a:off x="731520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8680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6868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216152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Scheduled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868680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trial evaluation class coordinated by Admin.</a:t>
            </a:r>
            <a:endParaRPr lang="en-US" sz="835" dirty="0"/>
          </a:p>
        </p:txBody>
      </p:sp>
      <p:sp>
        <p:nvSpPr>
          <p:cNvPr id="42" name="Shape 39"/>
          <p:cNvSpPr/>
          <p:nvPr/>
        </p:nvSpPr>
        <p:spPr>
          <a:xfrm>
            <a:off x="2907792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044952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044952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392424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Decision</a:t>
            </a:r>
            <a:endParaRPr lang="en-US" sz="930" dirty="0"/>
          </a:p>
        </p:txBody>
      </p:sp>
      <p:sp>
        <p:nvSpPr>
          <p:cNvPr id="46" name="Text 43"/>
          <p:cNvSpPr/>
          <p:nvPr/>
        </p:nvSpPr>
        <p:spPr>
          <a:xfrm>
            <a:off x="3044952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decision recorded: Accepted or Rejected.</a:t>
            </a:r>
            <a:endParaRPr lang="en-US" sz="835" dirty="0"/>
          </a:p>
        </p:txBody>
      </p:sp>
      <p:sp>
        <p:nvSpPr>
          <p:cNvPr id="47" name="Shape 44"/>
          <p:cNvSpPr/>
          <p:nvPr/>
        </p:nvSpPr>
        <p:spPr>
          <a:xfrm>
            <a:off x="5084064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21224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21224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68696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Verification</a:t>
            </a:r>
            <a:endParaRPr lang="en-US" sz="930" dirty="0"/>
          </a:p>
        </p:txBody>
      </p:sp>
      <p:sp>
        <p:nvSpPr>
          <p:cNvPr id="51" name="Text 48"/>
          <p:cNvSpPr/>
          <p:nvPr/>
        </p:nvSpPr>
        <p:spPr>
          <a:xfrm>
            <a:off x="5221224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submits 50% first-month commission proof.</a:t>
            </a:r>
            <a:endParaRPr lang="en-US" sz="835" dirty="0"/>
          </a:p>
        </p:txBody>
      </p:sp>
      <p:sp>
        <p:nvSpPr>
          <p:cNvPr id="52" name="Shape 49"/>
          <p:cNvSpPr/>
          <p:nvPr/>
        </p:nvSpPr>
        <p:spPr>
          <a:xfrm>
            <a:off x="7260336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97496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97496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744968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 Unlocked</a:t>
            </a:r>
            <a:endParaRPr lang="en-US" sz="930" dirty="0"/>
          </a:p>
        </p:txBody>
      </p:sp>
      <p:sp>
        <p:nvSpPr>
          <p:cNvPr id="56" name="Text 53"/>
          <p:cNvSpPr/>
          <p:nvPr/>
        </p:nvSpPr>
        <p:spPr>
          <a:xfrm>
            <a:off x="7397496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phone numbers and address are revealed.</a:t>
            </a:r>
            <a:endParaRPr lang="en-US" sz="835" dirty="0"/>
          </a:p>
        </p:txBody>
      </p:sp>
      <p:sp>
        <p:nvSpPr>
          <p:cNvPr id="57" name="Shape 54"/>
          <p:cNvSpPr/>
          <p:nvPr/>
        </p:nvSpPr>
        <p:spPr>
          <a:xfrm>
            <a:off x="9436608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573768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573768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9921240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Begins</a:t>
            </a:r>
            <a:endParaRPr lang="en-US" sz="930" dirty="0"/>
          </a:p>
        </p:txBody>
      </p:sp>
      <p:sp>
        <p:nvSpPr>
          <p:cNvPr id="61" name="Text 58"/>
          <p:cNvSpPr/>
          <p:nvPr/>
        </p:nvSpPr>
        <p:spPr>
          <a:xfrm>
            <a:off x="9573768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begin with attendance and reports.</a:t>
            </a:r>
            <a:endParaRPr lang="en-US" sz="8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Four User Experiences.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Granular, role-based workflows tailored to parents, educators, centers, and platform administrators.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05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868680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STUDENT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868680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Multi-child profile registration (CBSE / ICSE)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 home and online tuition requirements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scheduled evaluation demos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Accept or reject demo educators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Unlocked tutor contact coordinates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daily attendance registers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academic progress reports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support chat with Admin</a:t>
            </a:r>
            <a:endParaRPr lang="en-US" sz="835" dirty="0"/>
          </a:p>
        </p:txBody>
      </p:sp>
      <p:sp>
        <p:nvSpPr>
          <p:cNvPr id="15" name="Shape 12"/>
          <p:cNvSpPr/>
          <p:nvPr/>
        </p:nvSpPr>
        <p:spPr>
          <a:xfrm>
            <a:off x="3456432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2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PORTAL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3593592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/ TUTOR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3593592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Aadhaar and Degree KYC verification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Multi-class and subject teaching profile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Browse verified student requirements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Apply for assignments and demos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tuition operations and student details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Lesson attendance and topic registers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Submit monthly progress cards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Multi-Tuition Passes and commission desk</a:t>
            </a:r>
            <a:endParaRPr lang="en-US" sz="835" dirty="0"/>
          </a:p>
        </p:txBody>
      </p:sp>
      <p:sp>
        <p:nvSpPr>
          <p:cNvPr id="20" name="Shape 17"/>
          <p:cNvSpPr/>
          <p:nvPr/>
        </p:nvSpPr>
        <p:spPr>
          <a:xfrm>
            <a:off x="6181344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18504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8504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 DESK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6318504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6318504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Trade license and center registration audit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 1–10 batch creation and capacity caps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enrollment and batch assignment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batch attendance registers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test and exam performance ledgers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fee collection status tracking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WhatsApp payment reminders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Hire verified subject faculty from Admin</a:t>
            </a:r>
            <a:endParaRPr lang="en-US" sz="835" dirty="0"/>
          </a:p>
        </p:txBody>
      </p:sp>
      <p:sp>
        <p:nvSpPr>
          <p:cNvPr id="25" name="Shape 22"/>
          <p:cNvSpPr/>
          <p:nvPr/>
        </p:nvSpPr>
        <p:spPr>
          <a:xfrm>
            <a:off x="8906256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43416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43416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ROOM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9043416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40" dirty="0"/>
          </a:p>
        </p:txBody>
      </p:sp>
      <p:sp>
        <p:nvSpPr>
          <p:cNvPr id="29" name="Text 26"/>
          <p:cNvSpPr/>
          <p:nvPr/>
        </p:nvSpPr>
        <p:spPr>
          <a:xfrm>
            <a:off x="9043416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KPI metrics and intelligence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Educator KYC document audit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Tuition center accreditation review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Requirement moderation and lead dispatch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 coordination and relay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commission proof verification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Multi-Tuition Subscription activation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multi-channel support console</a:t>
            </a:r>
            <a:endParaRPr lang="en-US" sz="8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LIFECYCLE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— Step-by-Step Lifecycle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standard operational timeline from account onboarding to active tuition delivery.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06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2296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Parent, Tutor, or Tuition Center creates an account.</a:t>
            </a:r>
            <a:endParaRPr lang="en-US" sz="835" dirty="0"/>
          </a:p>
        </p:txBody>
      </p:sp>
      <p:sp>
        <p:nvSpPr>
          <p:cNvPr id="15" name="Shape 12"/>
          <p:cNvSpPr/>
          <p:nvPr/>
        </p:nvSpPr>
        <p:spPr>
          <a:xfrm>
            <a:off x="228600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748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7744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237744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audits Government ID and Degree certificates.</a:t>
            </a:r>
            <a:endParaRPr lang="en-US" sz="835" dirty="0"/>
          </a:p>
        </p:txBody>
      </p:sp>
      <p:sp>
        <p:nvSpPr>
          <p:cNvPr id="20" name="Shape 17"/>
          <p:cNvSpPr/>
          <p:nvPr/>
        </p:nvSpPr>
        <p:spPr>
          <a:xfrm>
            <a:off x="384048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5196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5196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3192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393192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specifies subject, grade, locality and schedule.</a:t>
            </a:r>
            <a:endParaRPr lang="en-US" sz="835" dirty="0"/>
          </a:p>
        </p:txBody>
      </p:sp>
      <p:sp>
        <p:nvSpPr>
          <p:cNvPr id="25" name="Shape 22"/>
          <p:cNvSpPr/>
          <p:nvPr/>
        </p:nvSpPr>
        <p:spPr>
          <a:xfrm>
            <a:off x="539496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48640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tutors browse leads and submit applications.</a:t>
            </a:r>
            <a:endParaRPr lang="en-US" sz="835" dirty="0"/>
          </a:p>
        </p:txBody>
      </p:sp>
      <p:sp>
        <p:nvSpPr>
          <p:cNvPr id="30" name="Shape 27"/>
          <p:cNvSpPr/>
          <p:nvPr/>
        </p:nvSpPr>
        <p:spPr>
          <a:xfrm>
            <a:off x="694944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6092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6092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4088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CLASS</a:t>
            </a:r>
            <a:endParaRPr lang="en-US" sz="930" dirty="0"/>
          </a:p>
        </p:txBody>
      </p:sp>
      <p:sp>
        <p:nvSpPr>
          <p:cNvPr id="34" name="Text 31"/>
          <p:cNvSpPr/>
          <p:nvPr/>
        </p:nvSpPr>
        <p:spPr>
          <a:xfrm>
            <a:off x="704088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coordinates a free evaluation trial session.</a:t>
            </a:r>
            <a:endParaRPr lang="en-US" sz="835" dirty="0"/>
          </a:p>
        </p:txBody>
      </p:sp>
      <p:sp>
        <p:nvSpPr>
          <p:cNvPr id="35" name="Shape 32"/>
          <p:cNvSpPr/>
          <p:nvPr/>
        </p:nvSpPr>
        <p:spPr>
          <a:xfrm>
            <a:off x="850392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1540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1540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59536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</a:t>
            </a:r>
            <a:endParaRPr lang="en-US" sz="930" dirty="0"/>
          </a:p>
        </p:txBody>
      </p:sp>
      <p:sp>
        <p:nvSpPr>
          <p:cNvPr id="39" name="Text 36"/>
          <p:cNvSpPr/>
          <p:nvPr/>
        </p:nvSpPr>
        <p:spPr>
          <a:xfrm>
            <a:off x="859536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accepts or rejects educator based on demo.</a:t>
            </a:r>
            <a:endParaRPr lang="en-US" sz="835" dirty="0"/>
          </a:p>
        </p:txBody>
      </p:sp>
      <p:sp>
        <p:nvSpPr>
          <p:cNvPr id="40" name="Shape 37"/>
          <p:cNvSpPr/>
          <p:nvPr/>
        </p:nvSpPr>
        <p:spPr>
          <a:xfrm>
            <a:off x="1005840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46988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6988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14984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STARTS</a:t>
            </a:r>
            <a:endParaRPr lang="en-US" sz="930" dirty="0"/>
          </a:p>
        </p:txBody>
      </p:sp>
      <p:sp>
        <p:nvSpPr>
          <p:cNvPr id="44" name="Text 41"/>
          <p:cNvSpPr/>
          <p:nvPr/>
        </p:nvSpPr>
        <p:spPr>
          <a:xfrm>
            <a:off x="1014984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paid, contacts unlocked, classes begin.</a:t>
            </a:r>
            <a:endParaRPr lang="en-US" sz="8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&amp; Student Journey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transparent, stress-free experience from tutor discovery to ongoing progress reporting.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07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16152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Account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868680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 with verified email and mobile number.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3456432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2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41064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Child Profiles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3593592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student grade (1–12), board (CBSE/ICSE) and school.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6181344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18504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85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665976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Requirement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6318504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Specify subjects, locality, budget and preferred schedule.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8906256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43416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4341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390888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Dispatches Lead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9043416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is validated and published to verified tutors.</a:t>
            </a:r>
            <a:endParaRPr lang="en-US" sz="885" dirty="0"/>
          </a:p>
        </p:txBody>
      </p:sp>
      <p:sp>
        <p:nvSpPr>
          <p:cNvPr id="30" name="Shape 27"/>
          <p:cNvSpPr/>
          <p:nvPr/>
        </p:nvSpPr>
        <p:spPr>
          <a:xfrm>
            <a:off x="731520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8680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216152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Assigned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868680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matches the best-suited educator for trial.</a:t>
            </a:r>
            <a:endParaRPr lang="en-US" sz="885" dirty="0"/>
          </a:p>
        </p:txBody>
      </p:sp>
      <p:sp>
        <p:nvSpPr>
          <p:cNvPr id="35" name="Shape 32"/>
          <p:cNvSpPr/>
          <p:nvPr/>
        </p:nvSpPr>
        <p:spPr>
          <a:xfrm>
            <a:off x="3456432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3592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9359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941064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 Demo Session</a:t>
            </a:r>
            <a:endParaRPr lang="en-US" sz="1030" dirty="0"/>
          </a:p>
        </p:txBody>
      </p:sp>
      <p:sp>
        <p:nvSpPr>
          <p:cNvPr id="39" name="Text 36"/>
          <p:cNvSpPr/>
          <p:nvPr/>
        </p:nvSpPr>
        <p:spPr>
          <a:xfrm>
            <a:off x="3593592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trial evaluation class conducted online or at home.</a:t>
            </a:r>
            <a:endParaRPr lang="en-US" sz="885" dirty="0"/>
          </a:p>
        </p:txBody>
      </p:sp>
      <p:sp>
        <p:nvSpPr>
          <p:cNvPr id="40" name="Shape 37"/>
          <p:cNvSpPr/>
          <p:nvPr/>
        </p:nvSpPr>
        <p:spPr>
          <a:xfrm>
            <a:off x="6181344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18504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185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665976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Reject</a:t>
            </a:r>
            <a:endParaRPr lang="en-US" sz="1030" dirty="0"/>
          </a:p>
        </p:txBody>
      </p:sp>
      <p:sp>
        <p:nvSpPr>
          <p:cNvPr id="44" name="Text 41"/>
          <p:cNvSpPr/>
          <p:nvPr/>
        </p:nvSpPr>
        <p:spPr>
          <a:xfrm>
            <a:off x="6318504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records binary feedback on the portal.</a:t>
            </a:r>
            <a:endParaRPr lang="en-US" sz="885" dirty="0"/>
          </a:p>
        </p:txBody>
      </p:sp>
      <p:sp>
        <p:nvSpPr>
          <p:cNvPr id="45" name="Shape 42"/>
          <p:cNvSpPr/>
          <p:nvPr/>
        </p:nvSpPr>
        <p:spPr>
          <a:xfrm>
            <a:off x="8906256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043416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043416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390888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 &amp; Tuition</a:t>
            </a:r>
            <a:endParaRPr lang="en-US" sz="1030" dirty="0"/>
          </a:p>
        </p:txBody>
      </p:sp>
      <p:sp>
        <p:nvSpPr>
          <p:cNvPr id="49" name="Text 46"/>
          <p:cNvSpPr/>
          <p:nvPr/>
        </p:nvSpPr>
        <p:spPr>
          <a:xfrm>
            <a:off x="9043416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contacts revealed; attendance and reports active.</a:t>
            </a:r>
            <a:endParaRPr lang="en-US" sz="885" dirty="0"/>
          </a:p>
        </p:txBody>
      </p:sp>
      <p:sp>
        <p:nvSpPr>
          <p:cNvPr id="50" name="Shape 47"/>
          <p:cNvSpPr/>
          <p:nvPr/>
        </p:nvSpPr>
        <p:spPr>
          <a:xfrm>
            <a:off x="731520" y="571500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5715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GUARANTEE: Parents do not receive unrestricted tutor contact coordinates before formal assignment and accepted demo confirmation.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OPERATIONS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Journey &amp; Multi-Tuition Passes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verified teachers, discovering assignments, and managing multi-tuition tiers.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08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ONBOARDING &amp; LIFECYCLE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4892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Onboarding &amp; KYC: Upload Aadhaar / Passport &amp; Degree Certificates.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Agreement Acceptance: Review and accept tutor code of conduct.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Admin Audit: Admin approves tutor profile after credential verification.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Browse &amp; Apply: Discover nearby student leads filtered by locality.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Conduct Demo: Deliver free trial session and await parent decision.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50% Commission Desk: Submit first-month commission proof for active classes.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Attendance &amp; Reports: Log class topics, homework, and monthly scores.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6199632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MULTI-TUITION SUBSCRIPTION PASSES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6400800" y="22128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Tutors taking 2 or more concurrent tuitions require an active subscription tier as mandated by the SRS specification: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6400800" y="2706624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27980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Months Pass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9829800" y="27980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₹300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6537960" y="307238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90 days concurrent lead applications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6400800" y="3502152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359359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Months Pass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9829800" y="35935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₹600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6537960" y="386791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180 days concurrent lead applications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6400800" y="4297680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438912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Months Pass</a:t>
            </a:r>
            <a:endParaRPr lang="en-US" sz="970" dirty="0"/>
          </a:p>
        </p:txBody>
      </p:sp>
      <p:sp>
        <p:nvSpPr>
          <p:cNvPr id="26" name="Text 23"/>
          <p:cNvSpPr/>
          <p:nvPr/>
        </p:nvSpPr>
        <p:spPr>
          <a:xfrm>
            <a:off x="9829800" y="438912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₹900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6537960" y="46634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270 days concurrent lead applications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6400800" y="5093208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518464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Months Pass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9829800" y="51846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₹1200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6537960" y="54589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pass for unlimited concurrent tuition applications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MODULE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Tuition Center Management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enterprise portal enabling coaching centers to automate Classes 1–10 batches, attendance and fees.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09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1–10 Batch Architecture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914400" y="22585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academic batches by grade, assign subject faculty, configure timings, and enforce capacity limits.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Roster Management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4553712" y="22585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 students, assign them to batches, track guardian contacts, and monitor active or inactive status.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Batch Attendance Registers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8193024" y="22585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Present, Absent, and Late statuses across all enrolled batch students with historical logs.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731520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&amp; Exam Performance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914400" y="422452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periodic marks, calculate subject averages, track ranks, and generate parent-facing report cards.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4370832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53712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Fee Collection Ledger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4553712" y="422452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Paid versus Pending status per student with payment method, transaction ID, and dates.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8010144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WhatsApp Fee Reminders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193024" y="422452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pre-formatted WhatsApp payment reminders directly to parent mobile numbers.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731520" y="571500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715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RECRUITMENT DESK: Tuition centers can submit formal requests to Admin for qualified subject tutors and specialized educators from the verified tutor pool.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GOVERNANCE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Admin Control Center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 operational authority for verification, matching, assignments, and platform earnings.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1051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KPI Dashboard</a:t>
            </a:r>
            <a:endParaRPr lang="en-US" sz="990" dirty="0"/>
          </a:p>
        </p:txBody>
      </p:sp>
      <p:sp>
        <p:nvSpPr>
          <p:cNvPr id="12" name="Text 9"/>
          <p:cNvSpPr/>
          <p:nvPr/>
        </p:nvSpPr>
        <p:spPr>
          <a:xfrm>
            <a:off x="914400" y="20848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platform metrics: requirements, active tuitions, verified tutors, and centers.</a:t>
            </a:r>
            <a:endParaRPr lang="en-US" sz="835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81051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KYC Audit Desk</a:t>
            </a:r>
            <a:endParaRPr lang="en-US" sz="990" dirty="0"/>
          </a:p>
        </p:txBody>
      </p:sp>
      <p:sp>
        <p:nvSpPr>
          <p:cNvPr id="15" name="Text 12"/>
          <p:cNvSpPr/>
          <p:nvPr/>
        </p:nvSpPr>
        <p:spPr>
          <a:xfrm>
            <a:off x="6382512" y="20848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government ID cards and degree memos; approve or reject with recorded feedback.</a:t>
            </a:r>
            <a:endParaRPr lang="en-US" sz="835" dirty="0"/>
          </a:p>
        </p:txBody>
      </p:sp>
      <p:sp>
        <p:nvSpPr>
          <p:cNvPr id="16" name="Shape 13"/>
          <p:cNvSpPr/>
          <p:nvPr/>
        </p:nvSpPr>
        <p:spPr>
          <a:xfrm>
            <a:off x="731520" y="2615184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68833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 Accreditation Desk</a:t>
            </a:r>
            <a:endParaRPr lang="en-US" sz="990" dirty="0"/>
          </a:p>
        </p:txBody>
      </p:sp>
      <p:sp>
        <p:nvSpPr>
          <p:cNvPr id="18" name="Text 15"/>
          <p:cNvSpPr/>
          <p:nvPr/>
        </p:nvSpPr>
        <p:spPr>
          <a:xfrm>
            <a:off x="914400" y="2962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institutional registration certificates, trade licenses, and director credentials.</a:t>
            </a:r>
            <a:endParaRPr lang="en-US" sz="835" dirty="0"/>
          </a:p>
        </p:txBody>
      </p:sp>
      <p:sp>
        <p:nvSpPr>
          <p:cNvPr id="19" name="Shape 16"/>
          <p:cNvSpPr/>
          <p:nvPr/>
        </p:nvSpPr>
        <p:spPr>
          <a:xfrm>
            <a:off x="6199632" y="2615184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268833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Matching &amp; Dispatch</a:t>
            </a:r>
            <a:endParaRPr lang="en-US" sz="990" dirty="0"/>
          </a:p>
        </p:txBody>
      </p:sp>
      <p:sp>
        <p:nvSpPr>
          <p:cNvPr id="21" name="Text 18"/>
          <p:cNvSpPr/>
          <p:nvPr/>
        </p:nvSpPr>
        <p:spPr>
          <a:xfrm>
            <a:off x="6382512" y="2962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incoming parent requirements and audit tutor applications before selection.</a:t>
            </a:r>
            <a:endParaRPr lang="en-US" sz="835" dirty="0"/>
          </a:p>
        </p:txBody>
      </p:sp>
      <p:sp>
        <p:nvSpPr>
          <p:cNvPr id="22" name="Shape 19"/>
          <p:cNvSpPr/>
          <p:nvPr/>
        </p:nvSpPr>
        <p:spPr>
          <a:xfrm>
            <a:off x="731520" y="3493008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56616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Coordination Console</a:t>
            </a:r>
            <a:endParaRPr lang="en-US" sz="990" dirty="0"/>
          </a:p>
        </p:txBody>
      </p:sp>
      <p:sp>
        <p:nvSpPr>
          <p:cNvPr id="24" name="Text 21"/>
          <p:cNvSpPr/>
          <p:nvPr/>
        </p:nvSpPr>
        <p:spPr>
          <a:xfrm>
            <a:off x="914400" y="38404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evaluation demos and relay parent confirmation decisions to educators.</a:t>
            </a:r>
            <a:endParaRPr lang="en-US" sz="835" dirty="0"/>
          </a:p>
        </p:txBody>
      </p:sp>
      <p:sp>
        <p:nvSpPr>
          <p:cNvPr id="25" name="Shape 22"/>
          <p:cNvSpPr/>
          <p:nvPr/>
        </p:nvSpPr>
        <p:spPr>
          <a:xfrm>
            <a:off x="6199632" y="3493008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82512" y="356616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Commission Desk</a:t>
            </a:r>
            <a:endParaRPr lang="en-US" sz="990" dirty="0"/>
          </a:p>
        </p:txBody>
      </p:sp>
      <p:sp>
        <p:nvSpPr>
          <p:cNvPr id="27" name="Text 24"/>
          <p:cNvSpPr/>
          <p:nvPr/>
        </p:nvSpPr>
        <p:spPr>
          <a:xfrm>
            <a:off x="6382512" y="38404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tutor UPI screenshots; approval unlocks mutual contact details.</a:t>
            </a:r>
            <a:endParaRPr lang="en-US" sz="835" dirty="0"/>
          </a:p>
        </p:txBody>
      </p:sp>
      <p:sp>
        <p:nvSpPr>
          <p:cNvPr id="28" name="Shape 25"/>
          <p:cNvSpPr/>
          <p:nvPr/>
        </p:nvSpPr>
        <p:spPr>
          <a:xfrm>
            <a:off x="731520" y="4370832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44398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Approval Desk</a:t>
            </a:r>
            <a:endParaRPr lang="en-US" sz="990" dirty="0"/>
          </a:p>
        </p:txBody>
      </p:sp>
      <p:sp>
        <p:nvSpPr>
          <p:cNvPr id="30" name="Text 27"/>
          <p:cNvSpPr/>
          <p:nvPr/>
        </p:nvSpPr>
        <p:spPr>
          <a:xfrm>
            <a:off x="914400" y="471830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3, 6, 9, 12-month pass payments and activate access.</a:t>
            </a:r>
            <a:endParaRPr lang="en-US" sz="835" dirty="0"/>
          </a:p>
        </p:txBody>
      </p:sp>
      <p:sp>
        <p:nvSpPr>
          <p:cNvPr id="31" name="Shape 28"/>
          <p:cNvSpPr/>
          <p:nvPr/>
        </p:nvSpPr>
        <p:spPr>
          <a:xfrm>
            <a:off x="6199632" y="4370832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82512" y="444398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Intelligence Ledger</a:t>
            </a:r>
            <a:endParaRPr lang="en-US" sz="990" dirty="0"/>
          </a:p>
        </p:txBody>
      </p:sp>
      <p:sp>
        <p:nvSpPr>
          <p:cNvPr id="33" name="Text 30"/>
          <p:cNvSpPr/>
          <p:nvPr/>
        </p:nvSpPr>
        <p:spPr>
          <a:xfrm>
            <a:off x="6382512" y="471830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ledger tracking platform revenue streams with receipt verification.</a:t>
            </a:r>
            <a:endParaRPr lang="en-US" sz="835" dirty="0"/>
          </a:p>
        </p:txBody>
      </p:sp>
      <p:sp>
        <p:nvSpPr>
          <p:cNvPr id="34" name="Shape 31"/>
          <p:cNvSpPr/>
          <p:nvPr/>
        </p:nvSpPr>
        <p:spPr>
          <a:xfrm>
            <a:off x="731520" y="5248656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3218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Multi-Channel Support Chat</a:t>
            </a:r>
            <a:endParaRPr lang="en-US" sz="990" dirty="0"/>
          </a:p>
        </p:txBody>
      </p:sp>
      <p:sp>
        <p:nvSpPr>
          <p:cNvPr id="36" name="Text 33"/>
          <p:cNvSpPr/>
          <p:nvPr/>
        </p:nvSpPr>
        <p:spPr>
          <a:xfrm>
            <a:off x="914400" y="5596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messaging hub communicating with all four platform roles.</a:t>
            </a:r>
            <a:endParaRPr lang="en-US" sz="835" dirty="0"/>
          </a:p>
        </p:txBody>
      </p:sp>
      <p:sp>
        <p:nvSpPr>
          <p:cNvPr id="37" name="Shape 34"/>
          <p:cNvSpPr/>
          <p:nvPr/>
        </p:nvSpPr>
        <p:spPr>
          <a:xfrm>
            <a:off x="6199632" y="5248656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82512" y="53218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Audit Trail</a:t>
            </a:r>
            <a:endParaRPr lang="en-US" sz="990" dirty="0"/>
          </a:p>
        </p:txBody>
      </p:sp>
      <p:sp>
        <p:nvSpPr>
          <p:cNvPr id="39" name="Text 36"/>
          <p:cNvSpPr/>
          <p:nvPr/>
        </p:nvSpPr>
        <p:spPr>
          <a:xfrm>
            <a:off x="6382512" y="5596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log of administrative actions, KYC decisions, and financial events.</a:t>
            </a:r>
            <a:endParaRPr lang="en-US" sz="8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Trust &amp; Controlled Access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data privacy, credential verification, and role-based access boundaries.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0195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KYC Document Verification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14400" y="232257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ID proofs (Aadhaar / Passport) and degree memos are verified by Admin before tutors can apply.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90195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Contact Redaction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53712" y="232257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numbers, emails, and home addresses stay hidden until demo acceptance and commission verification.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90195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193024" y="232257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 and authorization middleware isolate Parent, Tutor, Center, and Admin portals.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31520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1422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Document Storage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914400" y="456285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 KYC documents and transaction screenshots are accessible only via authenticated routes.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4370832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53712" y="41422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Security Standards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553712" y="456285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are protected using salted BCrypt password hashing during authentication.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8010144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41422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Logging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8193024" y="456285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decisions, KYC approvals, status updates, and financial events are timestamped and logged.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GOVERNANCE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 Payment Verification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manual UPI verification workflows for tutor subscriptions and first-month commissions.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MULTI-TUITION SUBSCRIPTION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Plan Selection: Tutor selects 3, 6, 9, or 12-month pass (₹300 – ₹1200).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External Payment: Makes external UPI payment to Admin QR code.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Proof Upload: Submits UTR and payment screenshot.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Admin Verification: Admin verifies receipt on Subscription Desk.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Activation: Subscription pass is activated for multi-tuition applications.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199632" y="16916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FIRST-MONTH COMMISSION WORKFLOW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6400800" y="228600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Demo Accepted: Parent marks the assignment Accepted.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Direct Payment: Tutor receives first-month tuition fee from parent.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50% Commission: Tutor pays the one-time commission via UPI.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Proof Submission: Tutor uploads payment proof and UTR number.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Assignment Active: Admin approves; mutual contacts are unlocked.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31520" y="5650992"/>
            <a:ext cx="10725912" cy="566928"/>
          </a:xfrm>
          <a:prstGeom prst="roundRect">
            <a:avLst>
              <a:gd name="adj" fmla="val 16129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65099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FINANCIAL CLARIFICATION: Regular monthly tuition fee payments between parents and tutors take place outside the platform. The platform manages only tutor subscriptions and first-month commissions.</a:t>
            </a:r>
            <a:endParaRPr lang="en-US" sz="8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HUB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Communication Channels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clearly separated communication mediums designed for authenticated users and public inquiries.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965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1: REAL-TIME IN-APP CHAT</a:t>
            </a:r>
            <a:endParaRPr lang="en-US" sz="1170" dirty="0"/>
          </a:p>
        </p:txBody>
      </p:sp>
      <p:sp>
        <p:nvSpPr>
          <p:cNvPr id="12" name="Text 9"/>
          <p:cNvSpPr/>
          <p:nvPr/>
        </p:nvSpPr>
        <p:spPr>
          <a:xfrm>
            <a:off x="960120" y="2450592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Purpose: Secure, authenticated operational messaging.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Technology: Socket.IO WebSockets with JWT handshake verification.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Support Channels: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Parent ↔ Admin (Academic counseling and demo feedback)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Tutor ↔ Admin (Lead clarification and commission support)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Tuition Center ↔ Admin (Faculty requests and accreditation)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Features: Instant delivery, unread badges, typing indicators, and message history.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965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2: PUBLIC WHATSAPP INQUIRY</a:t>
            </a:r>
            <a:endParaRPr lang="en-US" sz="1170" dirty="0"/>
          </a:p>
        </p:txBody>
      </p:sp>
      <p:sp>
        <p:nvSpPr>
          <p:cNvPr id="15" name="Text 12"/>
          <p:cNvSpPr/>
          <p:nvPr/>
        </p:nvSpPr>
        <p:spPr>
          <a:xfrm>
            <a:off x="6446520" y="2450592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Purpose: Pre-registration public inquiries and prospective support.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Integration: Floating WhatsApp badge on public marketing pages.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Flow: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Prospective parents and tutors click the WhatsApp badge.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Redirects to WhatsApp with a pre-formatted inquiry template.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Connects to the Smart Minds Tuitions official admin desk.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Distinction: WhatsApp and In-App Chat remain separate communication channels.</a:t>
            </a:r>
            <a:endParaRPr lang="en-US" sz="9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modern, modular full-stack stack engineered for reliability, responsiveness, and zero-setup deployment.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8288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CLIENT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3383280" y="1801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 + Tailwind CSS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3383280" y="2093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Single-page application, Lucide icons, responsive layout, and role-based portal routing.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31520" y="2587752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2724912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7249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SERVER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3383280" y="2697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Express.js REST API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3383280" y="2990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controllers, RBAC middleware, privacy redaction, and protected document routes.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31520" y="3483864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3621024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3383280" y="3593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(v4)</a:t>
            </a:r>
            <a:endParaRPr lang="en-US" sz="1130" dirty="0"/>
          </a:p>
        </p:txBody>
      </p:sp>
      <p:sp>
        <p:nvSpPr>
          <p:cNvPr id="24" name="Text 21"/>
          <p:cNvSpPr/>
          <p:nvPr/>
        </p:nvSpPr>
        <p:spPr>
          <a:xfrm>
            <a:off x="33832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event gateway for live support messaging, typing indicators, and notifications.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731520" y="4379976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517136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517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DUAL ENGINE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3383280" y="4489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+ In-Memory Fallback</a:t>
            </a:r>
            <a:endParaRPr lang="en-US" sz="1130" dirty="0"/>
          </a:p>
        </p:txBody>
      </p:sp>
      <p:sp>
        <p:nvSpPr>
          <p:cNvPr id="29" name="Text 26"/>
          <p:cNvSpPr/>
          <p:nvPr/>
        </p:nvSpPr>
        <p:spPr>
          <a:xfrm>
            <a:off x="3383280" y="4782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schemas with automatic zero-config in-memory MongoDB failover for rapid development.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31520" y="5276088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4132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ENCRYPTION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3383280" y="5385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BCrypt + Helmet</a:t>
            </a:r>
            <a:endParaRPr lang="en-US" sz="1130" dirty="0"/>
          </a:p>
        </p:txBody>
      </p:sp>
      <p:sp>
        <p:nvSpPr>
          <p:cNvPr id="34" name="Text 31"/>
          <p:cNvSpPr/>
          <p:nvPr/>
        </p:nvSpPr>
        <p:spPr>
          <a:xfrm>
            <a:off x="3383280" y="5678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authentication, salted password hashing, NoSQL sanitization, and rate limiting.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ECOSYSTEM TOPOLOGY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Ecosystem &amp; Security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topology showing authenticated role interfaces and backend service modules.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4480560"/>
          </a:xfrm>
          <a:prstGeom prst="roundRect">
            <a:avLst>
              <a:gd name="adj" fmla="val 2041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11C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Student Portal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109728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Route: /parent/*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8056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11C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/ Tutor Portal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48056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Route: /tutor/*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6384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11C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 Desk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786384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Route: /center/*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60320" y="3017520"/>
            <a:ext cx="7068312" cy="1325880"/>
          </a:xfrm>
          <a:prstGeom prst="roundRect">
            <a:avLst>
              <a:gd name="adj" fmla="val 6897"/>
            </a:avLst>
          </a:prstGeom>
          <a:solidFill>
            <a:srgbClr val="111C3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313639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ADMIN GATEWAY &amp; REST API CONTROLLERS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292608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KYC Document Audit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Lead Dispatch &amp; Matching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 Coordination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621792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Commission Desk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Subscription Pass Manager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Socket.IO Live Chat Server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2560320" y="4617720"/>
            <a:ext cx="7068312" cy="1280160"/>
          </a:xfrm>
          <a:prstGeom prst="roundRect">
            <a:avLst>
              <a:gd name="adj" fmla="val 7143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0" y="4709160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DATABASE &amp; PROTECTED STORAGE LAYER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2834640" y="5074920"/>
            <a:ext cx="6519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Collections: Users • Profiles • TuitionRequirements • Applications • Demos • Assignments • Attendance • MonthlyReports • Batches • FeeLedgers • Subscriptions • AuditLogs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MATRIX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Capabilities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core functional capabilities engineered to meet the complete SRS specification.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25880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KYC Verification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456432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93592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9359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50792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Registration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181344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18504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18504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75704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Requirements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8906256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43416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4341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0616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Applications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731520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8680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25880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Lead Matching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3456432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93592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9359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050792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Demo Classes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181344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18504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18504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75704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Assignments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8906256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043416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43416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500616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Attendance Ledger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731520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8680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86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325880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Progress Reports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3456432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593592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593592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050792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 Batches</a:t>
            </a:r>
            <a:endParaRPr lang="en-US" sz="980" dirty="0"/>
          </a:p>
        </p:txBody>
      </p:sp>
      <p:sp>
        <p:nvSpPr>
          <p:cNvPr id="50" name="Shape 47"/>
          <p:cNvSpPr/>
          <p:nvPr/>
        </p:nvSpPr>
        <p:spPr>
          <a:xfrm>
            <a:off x="6181344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18504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18504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775704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Multi-Tuition Passes</a:t>
            </a:r>
            <a:endParaRPr lang="en-US" sz="980" dirty="0"/>
          </a:p>
        </p:txBody>
      </p:sp>
      <p:sp>
        <p:nvSpPr>
          <p:cNvPr id="54" name="Shape 51"/>
          <p:cNvSpPr/>
          <p:nvPr/>
        </p:nvSpPr>
        <p:spPr>
          <a:xfrm>
            <a:off x="8906256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043416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43416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9500616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Commission Desk</a:t>
            </a:r>
            <a:endParaRPr lang="en-US" sz="980" dirty="0"/>
          </a:p>
        </p:txBody>
      </p:sp>
      <p:sp>
        <p:nvSpPr>
          <p:cNvPr id="58" name="Shape 55"/>
          <p:cNvSpPr/>
          <p:nvPr/>
        </p:nvSpPr>
        <p:spPr>
          <a:xfrm>
            <a:off x="731520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68680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686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1325880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Admin Chat</a:t>
            </a:r>
            <a:endParaRPr lang="en-US" sz="980" dirty="0"/>
          </a:p>
        </p:txBody>
      </p:sp>
      <p:sp>
        <p:nvSpPr>
          <p:cNvPr id="62" name="Shape 59"/>
          <p:cNvSpPr/>
          <p:nvPr/>
        </p:nvSpPr>
        <p:spPr>
          <a:xfrm>
            <a:off x="3456432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93592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593592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4050792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Reminder Triggers</a:t>
            </a:r>
            <a:endParaRPr lang="en-US" sz="980" dirty="0"/>
          </a:p>
        </p:txBody>
      </p:sp>
      <p:sp>
        <p:nvSpPr>
          <p:cNvPr id="66" name="Shape 63"/>
          <p:cNvSpPr/>
          <p:nvPr/>
        </p:nvSpPr>
        <p:spPr>
          <a:xfrm>
            <a:off x="6181344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18504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318504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6775704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980" dirty="0"/>
          </a:p>
        </p:txBody>
      </p:sp>
      <p:sp>
        <p:nvSpPr>
          <p:cNvPr id="70" name="Shape 67"/>
          <p:cNvSpPr/>
          <p:nvPr/>
        </p:nvSpPr>
        <p:spPr>
          <a:xfrm>
            <a:off x="8906256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043416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043416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9500616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Document Desk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EXPERIENCE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per User Persona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dashboards crafted specifically for parents, educators, center directors, and administrators.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DASHBOARD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Requirements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3401568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93008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Demo Sessions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14400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Tutors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3401568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3008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 Cards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199632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2512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DASHBOARD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82512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Nearby Student Leads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869680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0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Applications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382512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Tuitions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8869680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0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Attendance Logs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3152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 DESK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14400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1–10 Batches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3401568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93008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Enrolled Student Rosters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914400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5840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Attendance Marked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3401568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93008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Fee Dues Ledger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6199632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82512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CONTROL ROOM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82512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73952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Tutor KYC Audits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8869680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0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Commission Proofs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6382512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73952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Multi-Tuition Passes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8869680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61120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Support Conversations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Across Devices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responsive web application accessible across desktop monitors, laptops, tablets, and smartphones.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3611880"/>
          </a:xfrm>
          <a:prstGeom prst="roundRect">
            <a:avLst>
              <a:gd name="adj" fmla="val 264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574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&amp; Laptops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1005840" y="265176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for high-productivity workflows: Admin control room, center batch registers, multi-column lead browsing, and attendance tables.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3611880"/>
          </a:xfrm>
          <a:prstGeom prst="roundRect">
            <a:avLst>
              <a:gd name="adj" fmla="val 264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20574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Tablets &amp; iPads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4645152" y="265176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Fluid touch navigation for parents reviewing tutor credentials, checking demo dates, and approving monthly reports.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3611880"/>
          </a:xfrm>
          <a:prstGeom prst="roundRect">
            <a:avLst>
              <a:gd name="adj" fmla="val 264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20574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Browsers</a:t>
            </a:r>
            <a:endParaRPr lang="en-US" sz="1230" dirty="0"/>
          </a:p>
        </p:txBody>
      </p:sp>
      <p:sp>
        <p:nvSpPr>
          <p:cNvPr id="18" name="Text 15"/>
          <p:cNvSpPr/>
          <p:nvPr/>
        </p:nvSpPr>
        <p:spPr>
          <a:xfrm>
            <a:off x="8284464" y="265176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access on iOS and Android browsers for tutors marking attendance on-the-go and parents receiving reminders.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731520" y="557784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5577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INSTALLATION FRICTION: Built as a modern Single Page Web Application, users require no app store downloads and can log in securely from any standard browser.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Delivered Across All Stakeholders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Delivering safety, operational efficiency, and revenue transparency to every user persona.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&amp; STUDENTS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Verified educators with audited IDs and degrees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Zero upfront contact leakage or spam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evaluation demo before commitment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Continuous monthly progress and attendance logs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TUTORS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82512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Genuine nearby tuition lead discovery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Professional credential verification badges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Multi-tuition subscription passes for scale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Transparent 50% commission verification desk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Classes 1–10 batch configuration and caps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Paperless attendance and test ledgers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1-Click WhatsApp payment reminders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Faculty hiring from the verified pool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99632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OWNERS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82512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Total administrative control over matching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Multi-stream revenue (commissions + subscriptions)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Immutable security and financial audit trail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Integrated real-time support chat desk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INVENTORY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Product Scope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inventory of fully engineered and verified deliverables based on the SRS.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MODULES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Parent &amp; Student Portal (8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Educator &amp; Tutor Portal (11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Tuition Center Desk (8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Super Admin Control Room (10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Marketing Pages &amp; 1-Click Login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SERVICES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82512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JWT Auth &amp; RBAC Middleware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Contact Privacy Redaction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Protected Document Storage Desk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Engine (MongoDB + Memory Failover)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Socket.IO Real-Time Chat Server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WORKFLOWS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Tutor KYC Aadhaar/Degree Audit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Lead Posting &amp; Tutor Applications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Evaluation Demo Class Lifecycle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First-Month Commission Desk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3/6/9/12-Month Subscription Passes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99632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TOOLS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82512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Classes 1–10 Batch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Student Attendance Registers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Test &amp; Exam Score Ledgers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Fee Collection Tracking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WhatsApp Parent Reminders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Expansion Opportunities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enhancements for subsequent version releases beyond current SRS scope.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Integration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914400" y="22677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UPI, credit card, and net banking payment reconciliation.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Tutor Matching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4553712" y="22677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Algorithm-driven matching based on syllabus, pace, and tutor experience.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Applications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8193024" y="22677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iOS and Android applications with native push notifications.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731520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Video Classrooms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914400" y="4233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WebRTC whiteboards and video sessions for online demos.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4370832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53712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Learning Analytics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4553712" y="4233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score trendlines, concept gap analysis, and parent insights.</a:t>
            </a:r>
            <a:endParaRPr lang="en-US" sz="890" dirty="0"/>
          </a:p>
        </p:txBody>
      </p:sp>
      <p:sp>
        <p:nvSpPr>
          <p:cNvPr id="25" name="Shape 22"/>
          <p:cNvSpPr/>
          <p:nvPr/>
        </p:nvSpPr>
        <p:spPr>
          <a:xfrm>
            <a:off x="8010144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WhatsApp Bots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193024" y="4233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alerts and assignment reminders via WhatsApp Business API.</a:t>
            </a:r>
            <a:endParaRPr lang="en-US" sz="890" dirty="0"/>
          </a:p>
        </p:txBody>
      </p:sp>
      <p:sp>
        <p:nvSpPr>
          <p:cNvPr id="28" name="Shape 25"/>
          <p:cNvSpPr/>
          <p:nvPr/>
        </p:nvSpPr>
        <p:spPr>
          <a:xfrm>
            <a:off x="731520" y="571500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715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NOTICE: These modules represent potential future growth avenues and are clearly separated from the current SRS product requirements.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9994392" cy="5303520"/>
          </a:xfrm>
          <a:prstGeom prst="roundRect">
            <a:avLst>
              <a:gd name="adj" fmla="val 3103"/>
            </a:avLst>
          </a:prstGeom>
          <a:solidFill>
            <a:srgbClr val="0A1128"/>
          </a:solidFill>
          <a:ln w="2540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944" y="10972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926080"/>
            <a:ext cx="8897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45920" y="3502152"/>
            <a:ext cx="8897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"From Finding a Tutor To Managing the Tuition Journey."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011680" y="4023360"/>
            <a:ext cx="8165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structured, secure platform connecting parents, students, tutors, and coaching centers through controlled verification, matching, and ongoing tuition operations.</a:t>
            </a:r>
            <a:endParaRPr lang="en-US" sz="1140" dirty="0"/>
          </a:p>
        </p:txBody>
      </p:sp>
      <p:sp>
        <p:nvSpPr>
          <p:cNvPr id="7" name="Shape 4"/>
          <p:cNvSpPr/>
          <p:nvPr/>
        </p:nvSpPr>
        <p:spPr>
          <a:xfrm>
            <a:off x="164592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&amp; Students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388620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Educators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12648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836676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Administration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 of 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9994392" cy="5303520"/>
          </a:xfrm>
          <a:prstGeom prst="roundRect">
            <a:avLst>
              <a:gd name="adj" fmla="val 3103"/>
            </a:avLst>
          </a:prstGeom>
          <a:solidFill>
            <a:srgbClr val="0A1128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459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0" y="1371600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a Smarter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Experience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206240" y="24231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unified, trusted platform for parents, educators, coaching centers, and platform administrators.</a:t>
            </a:r>
            <a:endParaRPr lang="en-US" sz="1140" dirty="0"/>
          </a:p>
        </p:txBody>
      </p:sp>
      <p:sp>
        <p:nvSpPr>
          <p:cNvPr id="6" name="Shape 3"/>
          <p:cNvSpPr/>
          <p:nvPr/>
        </p:nvSpPr>
        <p:spPr>
          <a:xfrm>
            <a:off x="4206240" y="306324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3172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INQUIRIES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34340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[Client Representative Name]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7360920" y="306324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3172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EMAIL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749808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[contact@smartmindstuitions.com]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206240" y="406908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4178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PORTAL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34340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[www.smartmindstuitions.com]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360920" y="406908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178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INQUIRY HELPLINE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749808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[Official Phone / WhatsApp Helpline]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31520" y="6108192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6190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464040" y="619048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 of 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Smart Minds Tuitions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Minds Tuitions - Comprehensive Platform Presentation</dc:title>
  <dc:subject>Client-ready platform architecture and capability overview</dc:subject>
  <dc:creator>Smart Minds Tuitions</dc:creator>
  <cp:lastModifiedBy>Smart Minds Tuitions</cp:lastModifiedBy>
  <cp:revision>1</cp:revision>
  <dcterms:created xsi:type="dcterms:W3CDTF">2026-09-27T16:11:38Z</dcterms:created>
  <dcterms:modified xsi:type="dcterms:W3CDTF">2026-09-27T16:11:38Z</dcterms:modified>
</cp:coreProperties>
</file>